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This is our working prototype for PS SIH26076. Mausam is IMD's official weather app with a 2.6★ rating — the core complaint is that it shows generic district-level weather and no personalisation. Our solution turns the homepage into a persona-adaptive weather intelligence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8 personas directly from the official PS. The judges will check whether our homepage actually changes for each of these users. That is the single most important evaluation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personalisation is not cosmetic. Each persona gets a different set of metrics AND a different expert AI. That is what makes this a solution to the PS rather than a UI reskin.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proves we have already built, not just planned. Walk through each engine. Offer to run the live demo immediately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 about the 2 remaining personas — judges respect a clear roadmap over a fake claim. Note that Open-Meteo Marine API gives wave height, swell and sea-surface temperature free, so Phase 2 is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slide. The identical weather produces two different, correct, usable answers. That demonstrates real personalisation, not templating.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is a real differentiator in SIH. State clearly that the demo runs at zero cost and can be scaled with IMD's own internal APIs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persona-first architecture and grounded AI. Mention GKMS alignment as it shows we understand IMD's existing mandate.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concrete: Phase 1 is done, Phase 2 is small and free, Phase 3 is the hackathon build-out.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institutional impact, not just tech. Show that we understand IMD's mandate and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by inviting the judge/mentor to type a question into the live app. Close with the concrete ask: IMD data API access and a real-user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SIH26076  ·  Smart India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AF0FF"/>
                </a:solidFill>
              </a:defRPr>
            </a:pPr>
            <a:r>
              <a:t>MAUSAM AI</a:t>
            </a:r>
          </a:p>
          <a:p>
            <a:pPr>
              <a:defRPr sz="2100">
                <a:solidFill>
                  <a:srgbClr val="4ADE80"/>
                </a:solidFill>
              </a:defRPr>
            </a:pPr>
            <a:r>
              <a:t>Development of Personalised Homepage for the 'Mausam' 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AF0FF"/>
                </a:solidFill>
              </a:defRPr>
            </a:pPr>
            <a:r>
              <a:t>Organisation: Ministry of Earth Sciences (MoES)  ·  Department: India Meteorological Department (IMD)</a:t>
            </a:r>
          </a:p>
          <a:p>
            <a:pPr>
              <a:defRPr sz="1300">
                <a:solidFill>
                  <a:srgbClr val="9FB0D0"/>
                </a:solidFill>
              </a:defRPr>
            </a:pPr>
            <a:r>
              <a:t>Category: Software   ·   Theme: Smart Automation</a:t>
            </a:r>
          </a:p>
          <a:p>
            <a:pPr>
              <a:defRPr sz="1300">
                <a:solidFill>
                  <a:srgbClr val="9FB0D0"/>
                </a:solidFill>
              </a:defRPr>
            </a:pPr>
            <a:r>
              <a:t>Solution: AI-powered, persona-adaptive weather homepage with live weather, AQI, nowcast and advisory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12080"/>
            <a:ext cx="5120640" cy="822960"/>
          </a:xfrm>
          <a:prstGeom prst="roundRect">
            <a:avLst>
              <a:gd name="adj" fmla="val 18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AF0FF"/>
                </a:solidFill>
              </a:defRPr>
            </a:pPr>
            <a:r>
              <a:t>Team Name:  ____________________</a:t>
            </a:r>
          </a:p>
          <a:p>
            <a:pPr>
              <a:defRPr sz="1100">
                <a:solidFill>
                  <a:srgbClr val="9FB0D0"/>
                </a:solidFill>
              </a:defRPr>
            </a:pPr>
            <a:r>
              <a:t>Members:  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12080"/>
            <a:ext cx="5120640" cy="822960"/>
          </a:xfrm>
          <a:prstGeom prst="roundRect">
            <a:avLst>
              <a:gd name="adj" fmla="val 18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34924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Prototype:  Working web app (live demo ready)</a:t>
            </a:r>
          </a:p>
          <a:p>
            <a:pPr>
              <a:defRPr sz="1100">
                <a:solidFill>
                  <a:srgbClr val="9FB0D0"/>
                </a:solidFill>
              </a:defRPr>
            </a:pPr>
            <a:r>
              <a:t>Zero-cost stack · No weather API key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The Problem Statement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MoES / IMD wants the Mausam homepage to adapt to WHO the user is — not just where they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EAF0FF"/>
                </a:solidFill>
              </a:defRPr>
            </a:pPr>
            <a:r>
              <a:t>• Mausam currently shows the same generic weather page to every user — one-size-fits-all, district-level only.</a:t>
            </a:r>
          </a:p>
          <a:p>
            <a:pPr>
              <a:spcAft>
                <a:spcPts val="700"/>
              </a:spcAft>
              <a:defRPr sz="1450">
                <a:solidFill>
                  <a:srgbClr val="EAF0FF"/>
                </a:solidFill>
              </a:defRPr>
            </a:pPr>
            <a:r>
              <a:t>• A farmer, a runner, a parent, a traveler and a commuter all have completely different decisions to make from the same weather.</a:t>
            </a:r>
          </a:p>
          <a:p>
            <a:pPr>
              <a:spcAft>
                <a:spcPts val="700"/>
              </a:spcAft>
              <a:defRPr sz="1450">
                <a:solidFill>
                  <a:srgbClr val="EAF0FF"/>
                </a:solidFill>
              </a:defRPr>
            </a:pPr>
            <a:r>
              <a:t>• The problem statement explicitly defines EIGHT user personas the homepage must personalise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2670048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907791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ADE80"/>
                </a:solidFill>
              </a:defRPr>
            </a:pPr>
            <a:r>
              <a:t>Health-conscious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AQI, pollen, UV index, humidity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788920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2788920"/>
            <a:ext cx="2670048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907791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Outdoor fitness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sunrise/sunset, best running hours, wind, heat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788920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2788920"/>
            <a:ext cx="2670048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907791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t>Beachgoers &amp; surfers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sea conditions, tides, wave height, water temperature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2788920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42832" y="2788920"/>
            <a:ext cx="2670048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2907791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ADE80"/>
                </a:solidFill>
              </a:defRPr>
            </a:pPr>
            <a:r>
              <a:t>Travelers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saved destinations, flight alerts, packing suggestions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86783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86783"/>
            <a:ext cx="2670048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05655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Parents &amp; families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school commute, rain alerts, severe warnings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3986783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3986783"/>
            <a:ext cx="2670048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4105655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t>Agriculture &amp; gardeners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soil moisture, rainfall, frost alerts, planting guide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986783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3986783"/>
            <a:ext cx="2670048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105655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ADE80"/>
                </a:solidFill>
              </a:defRPr>
            </a:pPr>
            <a:r>
              <a:t>Commuters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weather + traffic, visibility, storm &amp; fog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3986783"/>
            <a:ext cx="2670048" cy="1051560"/>
          </a:xfrm>
          <a:prstGeom prst="roundRect">
            <a:avLst>
              <a:gd name="adj" fmla="val 12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42832" y="3986783"/>
            <a:ext cx="2670048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4105655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Event planners</a:t>
            </a:r>
          </a:p>
          <a:p>
            <a:pPr>
              <a:defRPr sz="1000">
                <a:solidFill>
                  <a:srgbClr val="EAF0FF"/>
                </a:solidFill>
              </a:defRPr>
            </a:pPr>
            <a:r>
              <a:t>extended forecast, rain probability, comfort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Our Solution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One homepage. Eight personas. One AI brain.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6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F0FF"/>
                </a:solidFill>
              </a:defRPr>
            </a:pPr>
            <a:r>
              <a:t>MAUSAM AI detects the user's persona and instantly re-writes the entire homepage —</a:t>
            </a:r>
          </a:p>
          <a:p>
            <a:pPr>
              <a:defRPr sz="1600" b="1">
                <a:solidFill>
                  <a:srgbClr val="4ADE80"/>
                </a:solidFill>
              </a:defRPr>
            </a:pPr>
            <a:r>
              <a:t>different metrics, different cards, different alerts, and a domain-expert AI assistant for that persona.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66160" cy="178308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0292" cy="17830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42616"/>
            <a:ext cx="3182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1. PERSONA DETECTION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User picks persona on first launch or onboarding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Homepage layout, cards and metrics rebuild instantly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AI assistant switches its expert system prompt to match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Profile + live location = fully personalised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14600"/>
            <a:ext cx="3566160" cy="178308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514600"/>
            <a:ext cx="50292" cy="17830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642616"/>
            <a:ext cx="3182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8BDF8"/>
                </a:solidFill>
              </a:defRPr>
            </a:pPr>
            <a:r>
              <a:t>2. LIVE WEATHER + AQI + NOWCAST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Current temperature, feels-like, humidity, wind, UV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Live Air Quality Index (US AQI) + PM2.5 / PM10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Hourly nowcast: next 4–24 h rain probability &amp; amount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5-day forecast + auto-computed 'best time window'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514600"/>
            <a:ext cx="3566160" cy="178308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514600"/>
            <a:ext cx="50292" cy="17830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642616"/>
            <a:ext cx="3182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3. AI ADVISORY ASSISTANT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Judges / users ask any question in plain language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AI answers with persona-specific, actionable advice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Hindi · English · Hinglish supported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Never fails — always-on offline knowledge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16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2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Why this approach wins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Not just a prettier weather screen — the homepage becomes a DECISION SUPPORT system for each persona.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Powered by a real LLM (Gemini / Groq / OpenRouter free tier) with domain knowledge injected as context.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Graceful degradation: if AI or network fails, a built-in expert rule-engine still answers correctly.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Zero-cost deployment: every data source used is free and requires no API key (Open-Meteo family).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Live Prototype — What We Have Built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A working multi-persona web application (mobile-app UI), demo-ready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✅  Working app: single-page application with the exact mobile-app look &amp; feel (&lt;10 MB, loads offline)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🗺️  Live weather engine — city search → geocoding → current + hourly + 5-day forecast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🌫️  Live Air Quality engine — US AQI, PM2.5, PM10 with colour-coded AQI scale and risk band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⏱️  Nowcast engine — next 4–24 hours rain probability &amp; intensity, hour by hour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🧠  Smart 'Best Window' engine — scores every hour on temperature + rain + AQI + wind and picks the optimum time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🤖  AI Assistant — persona-aware chat with 6 suggested questions per persona + free-text judge Q&amp;A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🎭  ALL 8 PS personas implemented: Agriculture · Running · School &amp; Family · Traveler · Air Quality · Commuter · Beachgoers &amp; Surfers · Event Planners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🌊  Marine engine — live wave height/period/swell/direction, sea temperature, and tide high/low timing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🌡️  Comfort Index engine — 0–100 outdoor-event score from temp + humidity + rain% + wind + UV</a:t>
            </a:r>
          </a:p>
          <a:p>
            <a:pPr>
              <a:spcAft>
                <a:spcPts val="900"/>
              </a:spcAft>
              <a:defRPr sz="1400">
                <a:solidFill>
                  <a:srgbClr val="EAF0FF"/>
                </a:solidFill>
              </a:defRPr>
            </a:pPr>
            <a:r>
              <a:t>• 🛟  Offline knowledge base — 33 states × soil × season × 30+ crops + full logic for all 6 personas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name="adj" fmla="val 16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418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Demo: search a city → pick a persona → AI answers the judge's question live, personalised to that city + persona.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Persona Coverage Matrix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All 8 personas named in the official problem statement are now implemented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16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657600"/>
                <a:gridCol w="1673352"/>
              </a:tblGrid>
              <a:tr h="49784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PS Persona (as written in SIH26076)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Our Module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Health-conscious — AQI, pollen, UV, humidity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Air Quality &amp; Health Risk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Outdoor fitness — sunrise/sunset, best running hours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Running &amp; Workout Guide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Beachgoers &amp; surfers — sea, tides, waves, water temp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Beachgoers &amp; Surfers (Marine API)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Travelers — saved destinations, alerts, packing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Traveler &amp; Destination Weather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Parents &amp; families — school commute, rain alerts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School Commute &amp; Family Outing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Agriculture &amp; gardeners — soil, rainfall, frost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Agriculture &amp; Crop Advisory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Commuters — weather + traffic, visibility, fog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Daily Commuter &amp; Nowcast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Event planners — extended forecast, rain %, comfort index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AF0FF"/>
                          </a:solidFill>
                        </a:defRPr>
                      </a:pPr>
                      <a:r>
                        <a:t>Event Planners &amp; Gatherings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08076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356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4ADE80"/>
                </a:solidFill>
              </a:defRPr>
            </a:pPr>
            <a:r>
              <a:t>8 of 8 personas fully working today — 6 core + Beachgoers &amp; Surfers + Event Planners, all on free no-key data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How the AI Works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Persona + live data → grounded LLM prompt → actionable answer (with a safe fallback)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" cy="1920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91056"/>
            <a:ext cx="31821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8BDF8"/>
                </a:solidFill>
              </a:defRPr>
            </a:pPr>
            <a:r>
              <a:t>INPUT LAYER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Persona selected by user (8 modules)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Marine data: wave, swell, tide, sea temp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Comfort Index inputs: temp, humidity, rain, wind, UV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Location: city → lat/long geocoding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Live weather: temp, humidity, wind, UV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Live AQI: US AQI, PM2.5, PM10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Hourly nowcast: rain % and mm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Season + state agronomy 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0292" cy="1920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591056"/>
            <a:ext cx="31821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AI LAYER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Persona-specific expert system prompt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Context block = all live data + user profile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LLM: Gemini 2.0 Flash / Llama 3.3 70B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Response constrained to persona + max ~220 words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Multilingual: Hindi / English / Hinglish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Deterministic rules for 'best window'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50292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591056"/>
            <a:ext cx="31821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BBF24"/>
                </a:solidFill>
              </a:defRPr>
            </a:pPr>
            <a:r>
              <a:t>OUTPUT LAYER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Personalised homepage cards &amp; metrics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Direct answer with concrete numbers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Alerts (rain, heat, AQI, wind, frost)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Actionable next steps for the user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Offline rule-engine fallback if AI fails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Never a blank screen during a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91672" cy="2560320"/>
          </a:xfrm>
          <a:prstGeom prst="roundRect">
            <a:avLst>
              <a:gd name="adj" fmla="val 14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Example — the same weather, two different answers</a:t>
            </a: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  <a:r>
              <a:t>Live data:  Nagpur · 34 °C (feels 39 °C) · humidity 72% · AQI 168 · rain in 3 h (70%)</a:t>
            </a: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  <a:r>
              <a:t>🌾 Agriculture persona  →  'Heat + high humidity = fungal risk on cotton. Do NOT spray today (wind 32 km/h, rain coming). Check drainage before the rain; delay urea top-dressing so nitrogen is not washed away.'</a:t>
            </a: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  <a:r>
              <a:t>🏃 Running persona  →  'AQI 168 is UNHEALTHY — outdoor run NOT advised. If you must run, keep it under 25 min, N95 mask, and pre-hydrate 500 ml. Better: indoor treadmill today. Best theoretical window tomorrow 05:30–06:30.'</a:t>
            </a:r>
          </a:p>
          <a:p>
            <a:pPr>
              <a:spcAft>
                <a:spcPts val="200"/>
              </a:spcAft>
              <a:defRPr sz="1200">
                <a:solidFill>
                  <a:srgbClr val="EAF0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</a:defRPr>
            </a:pPr>
            <a:r>
              <a:t>Same data, two completely different decisions — that is the personalisation the PS is asking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Tech Stack &amp; Data Sources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Everything used today is free — the prototype needs no paid key to run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675120"/>
                <a:gridCol w="2130552"/>
              </a:tblGrid>
              <a:tr h="42062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EAF0FF"/>
                          </a:solidFill>
                        </a:defRPr>
                      </a:pPr>
                      <a:r>
                        <a:t>Cost / Key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Prototype UI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HTML5 + CSS3 + Vanilla JavaScript (mobile-first SPA)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Weather data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Open-Meteo Forecast API (current + hourly + 5-day)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no key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Air quality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Open-Meteo Air Quality API (US AQI, PM2.5, PM10)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no key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Geo-location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Open-Meteo Geocoding API (city → lat/long)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no key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AI / LLM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Google Gemini 2.0 Flash · Groq Llama 3.3 70B · OpenRouter free models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Fallback engine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Built-in rule/knowledge base (33 states, 30+ crops, 6 personas)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offline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Marine data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Open-Meteo Marine API (wave height, period, swell, tide, sea temp)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no key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Comfort model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Deterministic 0–100 Comfort Index (temp + humidity + rain% + wind + UV)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Free · offline</a:t>
                      </a:r>
                    </a:p>
                  </a:txBody>
                  <a:tcPr anchor="ctr">
                    <a:solidFill>
                      <a:srgbClr val="0F1F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Planned (Phase 3)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EAF0FF"/>
                          </a:solidFill>
                        </a:defRPr>
                      </a:pPr>
                      <a:r>
                        <a:t>Flutter / React Native app + Node.js backend + Redis cache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ADE80"/>
                          </a:solidFill>
                        </a:defRPr>
                      </a:pPr>
                      <a:r>
                        <a:t>Open source</a:t>
                      </a:r>
                    </a:p>
                  </a:txBody>
                  <a:tcPr anchor="ctr">
                    <a:solidFill>
                      <a:srgbClr val="162A5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4ADE80"/>
                </a:solidFill>
              </a:defRPr>
            </a:pPr>
            <a:r>
              <a:t>Total running cost of the prototype: ₹0 per month — evaluated live in front of judges without any paid subscription.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Innovation &amp; USP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What makes our solution different from a normal weather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" cy="20574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91056"/>
            <a:ext cx="50566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PERSONA-FIRST ARCHITECTURE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Homepage is generated from the persona, not fixed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Same data → different metrics, cards and alerts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Extensible: new persona = config + knowledge pack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Directly answers the PS's 8-persona requirement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440680" cy="205740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0292" cy="2057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91056"/>
            <a:ext cx="50566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8BDF8"/>
                </a:solidFill>
              </a:defRPr>
            </a:pPr>
            <a:r>
              <a:t>GROUNDED AI, NOT CHATBOT FLUFF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Every AI answer is injected with live weather + AQI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Answers carry real numbers (mm, °C, AQI, timing)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Two-layer design: LLM + deterministic rule engine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Works even with zero connectivity — demo-safe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50292" cy="2057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831335"/>
            <a:ext cx="50566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BBF24"/>
                </a:solidFill>
              </a:defRPr>
            </a:pPr>
            <a:r>
              <a:t>ACTIONABLE, NOT INFORMATIONAL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'Best window' engine converts forecast into a time slot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Nowcast converts rain % into a leave-time decision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AQI converts into mask / exercise / window decisions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Farmer gets sowing windows, not just a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703320"/>
            <a:ext cx="5440680" cy="205740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703320"/>
            <a:ext cx="50292" cy="20574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31335"/>
            <a:ext cx="50566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BUILT FOR INDIA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Hindi / English / Hinglish — low-literacy friendly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33 states × soil × season agronomy knowledge built in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Designed to plug into IMD's own Mausam data APIs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Aligned with Gramin Krishi Mausam Seva (GKMS)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Roadmap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From working prototype to a production-ready Mausam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5661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1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DONE — PHASE 1</a:t>
            </a:r>
          </a:p>
          <a:p>
            <a:pPr>
              <a:spcAft>
                <a:spcPts val="600"/>
              </a:spcAft>
              <a:defRPr sz="1400" b="1">
                <a:solidFill>
                  <a:srgbClr val="EAF0FF"/>
                </a:solidFill>
              </a:defRPr>
            </a:pPr>
            <a:r>
              <a:t>Working Prototype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Persona-adaptive homepage — ALL 8 PS personas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Live weather + AQI + hourly nowcast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Marine engine: waves, swell, tides, sea temp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Comfort Index model for event planners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Persona-aware AI assistant + 6 Q sets each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Offline knowledge base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087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50876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73351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NEXT — PHASE 2</a:t>
            </a:r>
          </a:p>
          <a:p>
            <a:pPr>
              <a:spcAft>
                <a:spcPts val="600"/>
              </a:spcAft>
              <a:defRPr sz="1400" b="1">
                <a:solidFill>
                  <a:srgbClr val="EAF0FF"/>
                </a:solidFill>
              </a:defRPr>
            </a:pPr>
            <a:r>
              <a:t>Harden &amp; Extend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Pollen count module (where data available)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Nowcast tightened to next 2 hours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Rip-current &amp; UV-risk surf warnings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Event vendor checklist + guest alerts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Real user testing with each persona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5087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508760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673351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LATER — PHASE 3</a:t>
            </a:r>
          </a:p>
          <a:p>
            <a:pPr>
              <a:spcAft>
                <a:spcPts val="600"/>
              </a:spcAft>
              <a:defRPr sz="1400" b="1">
                <a:solidFill>
                  <a:srgbClr val="EAF0FF"/>
                </a:solidFill>
              </a:defRPr>
            </a:pPr>
            <a:r>
              <a:t>Productionisation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Flutter / React Native mobile app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Scalable backend + caching layer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Integration with IMD Mausam internal APIs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Push notifications for severe weather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• User accounts, saved destinations,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AF0FF"/>
                </a:solidFill>
              </a:defRPr>
            </a:pPr>
            <a:r>
              <a:t>Impact &amp; Alignment</a:t>
            </a:r>
          </a:p>
          <a:p>
            <a:pPr>
              <a:defRPr sz="1300" b="0">
                <a:solidFill>
                  <a:srgbClr val="9FB0D0"/>
                </a:solidFill>
              </a:defRPr>
            </a:pPr>
            <a:r>
              <a:t>Why MoES / IMD should care about personalisation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" cy="20116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91056"/>
            <a:ext cx="50566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USER IMPACT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Farmers get sowing/irrigation decisions, not raw numbers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Runners avoid heat-stroke and bad-air workouts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Parents plan the school run around real rain timing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Asthma &amp; allergy patients get mask / window decisions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Travelers pack correctly and dodge weather delays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440680" cy="201168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0292" cy="2011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91056"/>
            <a:ext cx="50566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8BDF8"/>
                </a:solidFill>
              </a:defRPr>
            </a:pPr>
            <a:r>
              <a:t>INSTITUTIONAL IMPACT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Directly addresses Mausam's biggest user complaint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Improves retention — a homepage worth opening daily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Extends reach of Gramin Krishi Mausam Seva (GKMS)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Platform for future IMD services (nowcast, alerts)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Low-cost: built on free, standards-based data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1672" cy="2148840"/>
          </a:xfrm>
          <a:prstGeom prst="roundRect">
            <a:avLst>
              <a:gd name="adj" fmla="val 14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10607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Alignment with the problem statement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The PS asks for a personalised homepage — we deliver a homepage that rebuilds itself per persona.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The PS names 8 personas — all 8 are implemented and working in the prototype today.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The PS is from IMD/MoES — our architecture is designed to sit on top of IMD's own data products.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Accessibility &amp; language: Hindi / English / Hinglish, minimal UI, works on low-end phones.</a:t>
            </a:r>
          </a:p>
          <a:p>
            <a:pPr>
              <a:spcAft>
                <a:spcPts val="300"/>
              </a:spcAft>
              <a:defRPr sz="1250">
                <a:solidFill>
                  <a:srgbClr val="EAF0FF"/>
                </a:solidFill>
              </a:defRPr>
            </a:pPr>
            <a:r>
              <a:t>• Sustainability: no paid dependency in the prototype, no vendor lock-in.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FB0D0"/>
                </a:solidFill>
              </a:defRPr>
            </a:pPr>
            <a:r>
              <a:t>SIH26076 · MAUSAM AI · Personalised Homepage for 'Mausam' Mobile App        |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AF0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DE80"/>
                </a:solidFill>
              </a:defRPr>
            </a:pPr>
            <a:r>
              <a:t>We are ready for a live demo — ask our AI anything, in any persona.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5212080" cy="237744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50292" cy="2377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688336"/>
            <a:ext cx="48280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ADE80"/>
                </a:solidFill>
              </a:defRPr>
            </a:pPr>
            <a:r>
              <a:t>WHAT WE NEED FROM YOU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Feedback on the persona list and priorities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Guidance on accessing IMD / Mausam data APIs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Which 2 personas to build first in Phase 2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Mentorship on mobile productionisation (Flutter)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 live trial slot to validate with real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560320"/>
            <a:ext cx="5212080" cy="2377440"/>
          </a:xfrm>
          <a:prstGeom prst="roundRect">
            <a:avLst>
              <a:gd name="adj" fmla="val 9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560320"/>
            <a:ext cx="50292" cy="2377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688336"/>
            <a:ext cx="48280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8BDF8"/>
                </a:solidFill>
              </a:defRPr>
            </a:pPr>
            <a:r>
              <a:t>WHAT WE BRING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 working, zero-cost prototype — demo today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All 8 PS personas already implemented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Marine (waves/tide/sea temp) + Comfort Index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AI-grounded advisory with offline fallback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Hindi / English / Hinglish, low-literacy friendly</a:t>
            </a:r>
          </a:p>
          <a:p>
            <a:pPr>
              <a:spcAft>
                <a:spcPts val="300"/>
              </a:spcAft>
              <a:defRPr sz="1150">
                <a:solidFill>
                  <a:srgbClr val="EAF0FF"/>
                </a:solidFill>
              </a:defRPr>
            </a:pPr>
            <a:r>
              <a:t>A clear, costed roadmap for the remaining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12080"/>
            <a:ext cx="10652760" cy="868680"/>
          </a:xfrm>
          <a:prstGeom prst="roundRect">
            <a:avLst>
              <a:gd name="adj" fmla="val 18000"/>
            </a:avLst>
          </a:prstGeom>
          <a:solidFill>
            <a:srgbClr val="16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SIH26076  ·  MAUSAM AI  ·  Personalised Homepage for the 'Mausam' Mobile Application</a:t>
            </a:r>
          </a:p>
          <a:p>
            <a:pPr>
              <a:defRPr sz="1150">
                <a:solidFill>
                  <a:srgbClr val="9FB0D0"/>
                </a:solidFill>
              </a:defRPr>
            </a:pPr>
            <a:r>
              <a:t>Ministry of Earth Sciences (MoES)  ·  India Meteorological Department (IMD)  ·  Software / Smart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